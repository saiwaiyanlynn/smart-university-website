
<file path=[Content_Types].xml><?xml version="1.0" encoding="utf-8"?>
<Types xmlns="http://schemas.openxmlformats.org/package/2006/content-types">
  <Default Extension="jfif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2" r:id="rId17"/>
    <p:sldId id="271" r:id="rId18"/>
    <p:sldId id="293" r:id="rId19"/>
    <p:sldId id="272" r:id="rId20"/>
    <p:sldId id="294" r:id="rId21"/>
    <p:sldId id="273" r:id="rId22"/>
    <p:sldId id="295" r:id="rId23"/>
    <p:sldId id="274" r:id="rId24"/>
    <p:sldId id="296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54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Design, Architecture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Project Proposal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requirements into a technical system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Aftab Alam Janisar  ·  BC362916 + BC362914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·  SESSION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Hours — From Requirements to Proposal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inputs, processing, outputs, storage, interfaces,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Models &amp; UI/UX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that matter + wireframes and mockups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Project Proposal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all prior work into one coherent document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·  THEME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Theme of the Week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Transforming requirements into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technical system design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·  LEARNING 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system architecture in terms of components and flows (inputs, processing, outputs, storage, interfaces, APIs)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produce meaningful system models and UI artefacts (only diagrams that support the design + basic wireframes)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complete Project Proposal that integrates problem, requirements, architecture, stack, timeline, risks and continuation 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FROM WEEK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Are in the Project Journey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63040"/>
            <a:ext cx="320040" cy="27432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320040" cy="27432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1463040"/>
            <a:ext cx="320040" cy="27432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280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1463040"/>
            <a:ext cx="320040" cy="27432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26680" y="12801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668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move from Requirements &amp; Scope (step 4) into Design &amp; Architecture (step 5).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produce the complete Project Proposal that becomes the baseline for implementation.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flows, interfaces and boundaries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ARCHITECTURE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Architecture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27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building blocks of the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Inputs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27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 events that enter the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that transforms inputs into results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Outputs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produces for users or other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information is persisted and retrieved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components exchange information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interaction with users or systems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APIs &amp; external services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and third-party capabilities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WEB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 Architecture — Web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659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mobile client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228600" cy="22860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9659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forms, client-side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011680"/>
            <a:ext cx="228600" cy="22860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659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APIs, auth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2011680"/>
            <a:ext cx="228600" cy="228600"/>
          </a:xfrm>
          <a:prstGeom prst="right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1280160"/>
            <a:ext cx="19659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1031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of records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Frontend  →  Backend  →  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AI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 Architecture — AI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/ datasets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transform, feature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inference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scores or labels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2376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to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→  Preprocessing  →  Model  →  Prediction  →  UI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IOT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 Architecture — IoT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measurement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processing / gateway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data securely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Server / 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process, analyse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23760" y="1280160"/>
            <a:ext cx="16002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69480" y="1554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2148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 →  Device  →  Network  →  Server/Cloud  →  Application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COMPONENTS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in Components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forms, dashboards, mobile views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Application / business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workflows, validation, orchestration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files, caches, message stores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Integration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message queues, external connectors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layer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authorisation, encryption, logging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91440" cy="13716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containers, cloud services, networks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1  ·  INTERFACES &amp; APIs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Interfaces and APIs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interfaces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188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interact (web, mobile, kiosk)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interfaces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1965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software components talk to each other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743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contracts for requesting and receiving data/services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520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capabilities you depend on (email, maps, payments)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Models and UI/UX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that matter + wireframes and mockups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CHOOSING DIAGRAMS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Only Diagrams That Support Your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project needs every diagram. Choose what clarifies your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major system goals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/ Flowchart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 Diagram / 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entities and relationships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 and connections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29260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Flow Diagram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processes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Wireframes / Mockups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 and user 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USE CASE DIAGRAM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Case Diagram — Purpose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Shows actors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interacts with the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Shows use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goals the system supports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Shows relationships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actor performs which use case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Keeps scope visible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detect missing or extra behaviour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Good for most projects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those with clear user roles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it simple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main use cases for Project 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9D7C09-B586-E994-B108-339FC7A3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10" y="482600"/>
            <a:ext cx="7773579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4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DATA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 Diagram and Database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things the system stores (User, Booking, Slot…)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each entity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entities connect (1:1, 1:N, M:N)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for integrity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design creates long-term problems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I expectation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schema for the core data the prototype uses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E49B9-E802-2245-3509-BBCD1664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1" y="49449"/>
            <a:ext cx="7652406" cy="2894612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D79DE-E1E7-9104-3F09-366706327E99}"/>
              </a:ext>
            </a:extLst>
          </p:cNvPr>
          <p:cNvSpPr txBox="1"/>
          <p:nvPr/>
        </p:nvSpPr>
        <p:spPr>
          <a:xfrm>
            <a:off x="2704050" y="2993510"/>
            <a:ext cx="6029922" cy="219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050" b="1" dirty="0">
                <a:effectLst/>
                <a:latin typeface="+mn-lt"/>
              </a:rPr>
              <a:t>1. 1:1 (One-to-One)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Notation:</a:t>
            </a:r>
            <a:r>
              <a:rPr lang="en-US" sz="1050" dirty="0">
                <a:effectLst/>
                <a:latin typeface="+mn-lt"/>
              </a:rPr>
              <a:t> (1..1) to (0..1)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Example:</a:t>
            </a:r>
            <a:r>
              <a:rPr lang="en-US" sz="1050" dirty="0">
                <a:effectLst/>
                <a:latin typeface="+mn-lt"/>
              </a:rPr>
              <a:t> One </a:t>
            </a:r>
            <a:r>
              <a:rPr lang="en-US" sz="1050" b="1" dirty="0">
                <a:effectLst/>
                <a:latin typeface="+mn-lt"/>
              </a:rPr>
              <a:t>User</a:t>
            </a:r>
            <a:r>
              <a:rPr lang="en-US" sz="1050" dirty="0">
                <a:effectLst/>
                <a:latin typeface="+mn-lt"/>
              </a:rPr>
              <a:t> has exactly one </a:t>
            </a:r>
            <a:r>
              <a:rPr lang="en-US" sz="1050" b="1" dirty="0">
                <a:effectLst/>
                <a:latin typeface="+mn-lt"/>
              </a:rPr>
              <a:t>User Profile</a:t>
            </a:r>
            <a:r>
              <a:rPr lang="en-US" sz="1050" dirty="0">
                <a:effectLst/>
                <a:latin typeface="+mn-lt"/>
              </a:rPr>
              <a:t> (or one Person has one Passport).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endParaRPr lang="en-US" sz="1050" dirty="0">
              <a:effectLst/>
              <a:latin typeface="+mn-lt"/>
            </a:endParaRPr>
          </a:p>
          <a:p>
            <a:pPr marL="0" marR="0">
              <a:buNone/>
            </a:pPr>
            <a:r>
              <a:rPr lang="en-US" sz="1050" b="1" i="1" dirty="0">
                <a:effectLst/>
                <a:latin typeface="+mn-lt"/>
              </a:rPr>
              <a:t>2. 0:N / 0.. (Zero-to-Many / Optional Many)</a:t>
            </a:r>
            <a:r>
              <a:rPr lang="en-US" sz="1050" b="1" dirty="0">
                <a:effectLst/>
                <a:latin typeface="+mn-lt"/>
              </a:rPr>
              <a:t>*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Notation:</a:t>
            </a:r>
            <a:r>
              <a:rPr lang="en-US" sz="1050" dirty="0">
                <a:effectLst/>
                <a:latin typeface="+mn-lt"/>
              </a:rPr>
              <a:t> (0..*) or Crow's Foot with an outer circle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Example in Diagram:</a:t>
            </a:r>
            <a:r>
              <a:rPr lang="en-US" sz="1050" dirty="0">
                <a:effectLst/>
                <a:latin typeface="+mn-lt"/>
              </a:rPr>
              <a:t> A newly registered </a:t>
            </a:r>
            <a:r>
              <a:rPr lang="en-US" sz="1050" b="1" dirty="0">
                <a:effectLst/>
                <a:latin typeface="+mn-lt"/>
              </a:rPr>
              <a:t>USER</a:t>
            </a:r>
            <a:r>
              <a:rPr lang="en-US" sz="1050" dirty="0">
                <a:effectLst/>
                <a:latin typeface="+mn-lt"/>
              </a:rPr>
              <a:t> can have </a:t>
            </a:r>
            <a:r>
              <a:rPr lang="en-US" sz="1050" b="1" dirty="0">
                <a:effectLst/>
                <a:latin typeface="+mn-lt"/>
              </a:rPr>
              <a:t>0</a:t>
            </a:r>
            <a:r>
              <a:rPr lang="en-US" sz="1050" dirty="0">
                <a:effectLst/>
                <a:latin typeface="+mn-lt"/>
              </a:rPr>
              <a:t> bookings, or accumulate </a:t>
            </a:r>
            <a:r>
              <a:rPr lang="en-US" sz="1050" b="1" dirty="0">
                <a:effectLst/>
                <a:latin typeface="+mn-lt"/>
              </a:rPr>
              <a:t>many (*)</a:t>
            </a:r>
            <a:r>
              <a:rPr lang="en-US" sz="1050" dirty="0">
                <a:effectLst/>
                <a:latin typeface="+mn-lt"/>
              </a:rPr>
              <a:t> bookings over time.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endParaRPr lang="en-US" sz="1050" dirty="0">
              <a:effectLst/>
              <a:latin typeface="+mn-lt"/>
            </a:endParaRPr>
          </a:p>
          <a:p>
            <a:pPr marL="0" marR="0">
              <a:buNone/>
            </a:pPr>
            <a:r>
              <a:rPr lang="en-US" sz="1050" b="1" dirty="0">
                <a:effectLst/>
                <a:latin typeface="+mn-lt"/>
              </a:rPr>
              <a:t>3. 1:N (One-to-Many)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Notation:</a:t>
            </a:r>
            <a:r>
              <a:rPr lang="en-US" sz="1050" dirty="0">
                <a:effectLst/>
                <a:latin typeface="+mn-lt"/>
              </a:rPr>
              <a:t> USER (1..1) —— (0..*) BOOKING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+mn-lt"/>
              </a:rPr>
              <a:t>Example in Diagram:</a:t>
            </a:r>
            <a:r>
              <a:rPr lang="en-US" sz="1050" dirty="0">
                <a:effectLst/>
                <a:latin typeface="+mn-lt"/>
              </a:rPr>
              <a:t> </a:t>
            </a:r>
            <a:r>
              <a:rPr lang="en-US" sz="1050" b="1" dirty="0">
                <a:effectLst/>
                <a:latin typeface="+mn-lt"/>
              </a:rPr>
              <a:t>"One User can have Many Bookings"</a:t>
            </a:r>
            <a:r>
              <a:rPr lang="en-US" sz="1050" dirty="0">
                <a:effectLst/>
                <a:latin typeface="+mn-lt"/>
              </a:rPr>
              <a:t> — One </a:t>
            </a:r>
            <a:r>
              <a:rPr lang="en-US" sz="1050" b="1" dirty="0">
                <a:effectLst/>
                <a:latin typeface="+mn-lt"/>
              </a:rPr>
              <a:t>USER</a:t>
            </a:r>
            <a:r>
              <a:rPr lang="en-US" sz="1050" dirty="0">
                <a:effectLst/>
                <a:latin typeface="+mn-lt"/>
              </a:rPr>
              <a:t> creates multiple </a:t>
            </a:r>
            <a:r>
              <a:rPr lang="en-US" sz="1050" b="1" dirty="0">
                <a:effectLst/>
                <a:latin typeface="+mn-lt"/>
              </a:rPr>
              <a:t>BOOKING</a:t>
            </a:r>
            <a:r>
              <a:rPr lang="en-US" sz="1050" dirty="0">
                <a:effectLst/>
                <a:latin typeface="+mn-lt"/>
              </a:rPr>
              <a:t> entries, but every </a:t>
            </a:r>
            <a:r>
              <a:rPr lang="en-US" sz="1050" b="1" dirty="0">
                <a:effectLst/>
                <a:latin typeface="+mn-lt"/>
              </a:rPr>
              <a:t>BOOKING</a:t>
            </a:r>
            <a:r>
              <a:rPr lang="en-US" sz="1050" dirty="0">
                <a:effectLst/>
                <a:latin typeface="+mn-lt"/>
              </a:rPr>
              <a:t> must link back to exactly </a:t>
            </a:r>
            <a:r>
              <a:rPr lang="en-US" sz="1050" b="1" dirty="0">
                <a:effectLst/>
                <a:latin typeface="+mn-lt"/>
              </a:rPr>
              <a:t>1 USER</a:t>
            </a:r>
            <a:r>
              <a:rPr lang="en-US" sz="1050" dirty="0">
                <a:effectLst/>
                <a:latin typeface="+mn-lt"/>
              </a:rPr>
              <a:t>. </a:t>
            </a:r>
            <a:endParaRPr lang="en-US" sz="1050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177632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ARCHITECTURE DIAGRAM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major components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database, external services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direction of 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calls whom; request/response paths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Label technologies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stack will sit (optional but useful)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it readable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clarity over exhaustive detail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Match your project type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AI, IoT patterns differ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as design evolves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not frozen on day 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134FF-7923-F036-06B1-5504A9B3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99" y="482600"/>
            <a:ext cx="8113201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1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UI/UX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Wireframes and UI Mockups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Wireframes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structure — layout and flow, not final visual design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Mockups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Higher-fidelity screens — closer to the intended look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they help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missing fields, unclear steps, and navigation problems early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many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 for the core user journeys (not every possible page)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Figma, draw.io, PowerPoint, or simple sketches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 to requirements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important screen should support a requirement or user 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8976D-1944-FC36-0D32-7EF4A68A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14" y="482600"/>
            <a:ext cx="6452971" cy="41782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931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2  ·  PROCESS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Diagrams and Flowcharts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useful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rules or multi-step processes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decisions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based on conditions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parallel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activities can happen together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focus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core flows that implement key requirements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Avoid over-detail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button click needs a box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with use cases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describe goals; flows show how steps unfold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F3571-E1F6-F72A-308F-35BFA3A52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313" y="482600"/>
            <a:ext cx="3875372" cy="41782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7767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Project Proposal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all prior work into one coherent document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PROPOSAL PURPOSE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a Complete Project Proposal?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Integrates all prior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188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requirements, design into one coherent 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Creates a shared 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instructor agree on what will be built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Supports assessment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5603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understanding before coding accelerates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Guides implementation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3246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models reduce ad-hoc decisions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Defines success for Project 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931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deliverables and continuation into Project II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PROPOSAL STRUCTURE (1–9)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Suggested Proposal Structure (Part 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Objectives (general + specific)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Target 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Stakeholders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Requirements (functional + non-functional)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Scope (in / out, constraints, assumptions)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Proposed solution (high-level description)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PROPOSAL STRUCTURE (10–17)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Suggested Proposal Structure (Part 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Architecture (components and major flows)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System models (selected diagrams + short explanation)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Technology stack (languages, frameworks, tools, hosting)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Development methodology (e.g. iterative / Agile practices)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Project timeline (milestones for remaining weeks)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Risks (technical, schedule, data, team) and mitigations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Project I deliverables (what will be demonstrated)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Project II continuation plan (what remains and why)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TECHNOLOGY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Technology Stack — What to Document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/ library, language, key UI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framework, API style (REST, etc.)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product (relational / NoSQL)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Hosting / deployment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prototype will run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project board, design tools, testing tools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third-party APIs or platforms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METHOD &amp; TIMELINE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Development Methodology and Timeline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Iterative or lightweight Agile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 cycles with visible progress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 stand-ups / check-ins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Backlog of features prioritised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Definition of done for each item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508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Major milestones only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 to remaining course weeks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Include design, build, test phases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Leave buffer before final demo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 Project I vs Project II boundary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RISKS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Risks Section — Be Specific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0515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technology, integration difficulty — mitigation: spikes, learning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Schedule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 effort — mitigation: prioritised backlog, early cuts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/ access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2402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 denied data — mitigation: synthetic data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8346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contribution — mitigation: clear ownership, visible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Scope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4290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creep — mitigation: written out-of-scope 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023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feedback participation — mitigation: early scheduling of sessions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PROJECT I DELIVERABLES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I Deliverables (What You Will Demonstrate)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problem, objectives and requirements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selected system models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057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of core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version control and structured development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testing results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and progress records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886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Project II continuation plan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 3  ·  PROJECT II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II Continuation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Remaining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deferred and why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Integration &amp; hardening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behaviour and quality improvements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Deeper testing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cases, usability, performance where relevant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Evaluation with users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and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Deployment / pilot (if appropriate)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environment if feasible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Final documentation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report and reflection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STUDENT DELIVERABLE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Project Proposal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document that integrates work from Weeks 4–7 and provides a clear baseline for implementation.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All 17 suggested sections (or equivalent complete structure)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Architecture diagram and selected system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Technology stack with justification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Timeline with milestones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Risks with mitigations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Explicit Project I deliverables and Project II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QUALITY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of a Strong Design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Traceable to requirements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 exist to satisfy stated needs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boundaries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the system vs external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Realistic for the team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complexity match skills and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Readable diagrams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new can understand the big picture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Room for Project II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can grow without a full rewrite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Honest limitations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are stated, not hidden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DESIGN MISTAKES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Design &amp; Proposal Mistakes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 that ignores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diagram, weak link to needs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possible diagram forced 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instead of clarity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Technology list without rationale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 that is only a wish 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buffer, no priorities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Risks that are generic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might go wrong” is not useful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Project II path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becomes a dead 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CONNECTION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Week 7 Supports Course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 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3258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appropriate IT system architecture and supporting models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 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14884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suitable technologies, tools, platforms and development methods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 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9718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Solidifies scope, constraints and expected outcomes in the proposal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 14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37947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design decisions and continuation plan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Remember These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explains components, flows and boundaries — not just technology names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diagrams that clarify your design; skip those that do not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artefacts (wireframes/mockups) expose problems before coding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integrates everything from problem to continuation plan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proposal becomes the baseline for implementation and assessment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to Do After This Session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architecture diagram — components, major flows, external services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produce 2–4 meaningful models (use case, ER/schema, flow, or architecture)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wireframes for core screens — key user journeys only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full proposal — all sections from prior weeks + design + stack + plan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against the quality checklist — traceability, realism, clarity, continuation path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Requirements become real when they are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expressed as architecture, models and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coherent proposal.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proposal is your contract with the rest of the semester.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·  Dr. Aftab Alam Janisar  ·  Week 7  ·  BC362916 + BC362914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APPENDIX  ·  NOTES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Additional Design &amp; Proposal Notes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Label every diagram clearly and keep legends simple.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Technology choices should support the requirements, not the other way around.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short rationale for the stack is more valuable than a long list of tools.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Timeline milestones should be checkable, not vague phases.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Risks without mitigations are incomplete.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proposal is a living baseline — update it when major decisions change.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System Design &amp; Project Proposal  ·  Dr. Aftab Alam Janisar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2779</Words>
  <Application>Microsoft Office PowerPoint</Application>
  <PresentationFormat>On-screen Show (16:9)</PresentationFormat>
  <Paragraphs>519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Century Gothic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System Design, Architecture &amp; Project Proposal</dc:title>
  <dc:subject>BC362916 + BC362914</dc:subject>
  <dc:creator>Dr. Aftab Alam Janisar</dc:creator>
  <cp:lastModifiedBy>Aftab Alam Janisar</cp:lastModifiedBy>
  <cp:revision>7</cp:revision>
  <dcterms:created xsi:type="dcterms:W3CDTF">2026-10-03T05:40:08Z</dcterms:created>
  <dcterms:modified xsi:type="dcterms:W3CDTF">2026-10-03T07:11:03Z</dcterms:modified>
</cp:coreProperties>
</file>